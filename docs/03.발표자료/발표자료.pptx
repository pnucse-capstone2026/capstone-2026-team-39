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848d0e0e54892" /><Relationship Type="http://schemas.openxmlformats.org/officeDocument/2006/relationships/extended-properties" Target="/docProps/app.xml" Id="R7b3b1786c7544253" /><Relationship Type="http://schemas.openxmlformats.org/officeDocument/2006/relationships/officeDocument" Target="/ppt/presentation.xml" Id="R7e8d31aecb7a41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dd6b4c9ea4b1e"/>
  </p:sldMasterIdLst>
  <p:notesMasterIdLst>
    <p:notesMasterId xmlns:r="http://schemas.openxmlformats.org/officeDocument/2006/relationships" r:id="R0a8cdab844b24415"/>
  </p:notesMasterIdLst>
  <p:sldIdLst>
    <p:sldId xmlns:r="http://schemas.openxmlformats.org/officeDocument/2006/relationships" id="256" r:id="Rb9ad127399e94533"/>
    <p:sldId xmlns:r="http://schemas.openxmlformats.org/officeDocument/2006/relationships" id="257" r:id="R94e19904b27340f8"/>
    <p:sldId xmlns:r="http://schemas.openxmlformats.org/officeDocument/2006/relationships" id="258" r:id="R241d6a26507d408b"/>
    <p:sldId xmlns:r="http://schemas.openxmlformats.org/officeDocument/2006/relationships" id="259" r:id="Rcd763379bce04704"/>
    <p:sldId xmlns:r="http://schemas.openxmlformats.org/officeDocument/2006/relationships" id="260" r:id="R4a0cd4106f9b475f"/>
    <p:sldId xmlns:r="http://schemas.openxmlformats.org/officeDocument/2006/relationships" id="261" r:id="Ra7431277dac34030"/>
    <p:sldId xmlns:r="http://schemas.openxmlformats.org/officeDocument/2006/relationships" id="262" r:id="R055bcca047f946c0"/>
    <p:sldId xmlns:r="http://schemas.openxmlformats.org/officeDocument/2006/relationships" id="263" r:id="Rdf4db64610cd4d4a"/>
    <p:sldId xmlns:r="http://schemas.openxmlformats.org/officeDocument/2006/relationships" id="264" r:id="Rf7a5d27a83714552"/>
    <p:sldId xmlns:r="http://schemas.openxmlformats.org/officeDocument/2006/relationships" id="265" r:id="Rfa66437bd76147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13dc7987b4967" /><Relationship Type="http://schemas.openxmlformats.org/officeDocument/2006/relationships/slideMaster" Target="/ppt/slideMasters/slideMaster1.xml" Id="Ra20dd6b4c9ea4b1e" /><Relationship Type="http://schemas.openxmlformats.org/officeDocument/2006/relationships/notesMaster" Target="/ppt/notesMasters/notesMaster1.xml" Id="R0a8cdab844b24415" /><Relationship Type="http://schemas.openxmlformats.org/officeDocument/2006/relationships/presProps" Target="/ppt/presProps.xml" Id="R6eb2b41281144563" /><Relationship Type="http://schemas.openxmlformats.org/officeDocument/2006/relationships/tableStyles" Target="/ppt/tableStyles.xml" Id="Rb8230d78716347f5" /><Relationship Type="http://schemas.openxmlformats.org/officeDocument/2006/relationships/slide" Target="/ppt/slides/slide1.xml" Id="Rb9ad127399e94533" /><Relationship Type="http://schemas.openxmlformats.org/officeDocument/2006/relationships/slide" Target="/ppt/slides/slide2.xml" Id="R94e19904b27340f8" /><Relationship Type="http://schemas.openxmlformats.org/officeDocument/2006/relationships/slide" Target="/ppt/slides/slide3.xml" Id="R241d6a26507d408b" /><Relationship Type="http://schemas.openxmlformats.org/officeDocument/2006/relationships/slide" Target="/ppt/slides/slide4.xml" Id="Rcd763379bce04704" /><Relationship Type="http://schemas.openxmlformats.org/officeDocument/2006/relationships/slide" Target="/ppt/slides/slide5.xml" Id="R4a0cd4106f9b475f" /><Relationship Type="http://schemas.openxmlformats.org/officeDocument/2006/relationships/slide" Target="/ppt/slides/slide6.xml" Id="Ra7431277dac34030" /><Relationship Type="http://schemas.openxmlformats.org/officeDocument/2006/relationships/slide" Target="/ppt/slides/slide7.xml" Id="R055bcca047f946c0" /><Relationship Type="http://schemas.openxmlformats.org/officeDocument/2006/relationships/slide" Target="/ppt/slides/slide8.xml" Id="Rdf4db64610cd4d4a" /><Relationship Type="http://schemas.openxmlformats.org/officeDocument/2006/relationships/slide" Target="/ppt/slides/slide9.xml" Id="Rf7a5d27a83714552" /><Relationship Type="http://schemas.openxmlformats.org/officeDocument/2006/relationships/slide" Target="/ppt/slides/slide10.xml" Id="Rfa66437bd761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8505803074d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cf635fdafb43a2" /><Relationship Type="http://schemas.openxmlformats.org/officeDocument/2006/relationships/notesMaster" Target="/ppt/notesMasters/notesMaster1.xml" Id="Rd558e3beedd944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1f2f1560c4aff" /><Relationship Type="http://schemas.openxmlformats.org/officeDocument/2006/relationships/notesMaster" Target="/ppt/notesMasters/notesMaster1.xml" Id="Rcad5d1c6cd43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ad5785f89b4008" /><Relationship Type="http://schemas.openxmlformats.org/officeDocument/2006/relationships/notesMaster" Target="/ppt/notesMasters/notesMaster1.xml" Id="R283874d7d130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34b6c6cce462e" /><Relationship Type="http://schemas.openxmlformats.org/officeDocument/2006/relationships/notesMaster" Target="/ppt/notesMasters/notesMaster1.xml" Id="Rfda418ee71c548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d1deb1b02d459e" /><Relationship Type="http://schemas.openxmlformats.org/officeDocument/2006/relationships/notesMaster" Target="/ppt/notesMasters/notesMaster1.xml" Id="Rdfe0e68ab8c04b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865aef2d74418a" /><Relationship Type="http://schemas.openxmlformats.org/officeDocument/2006/relationships/notesMaster" Target="/ppt/notesMasters/notesMaster1.xml" Id="R4d454d5db8db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f4eb115024ca7" /><Relationship Type="http://schemas.openxmlformats.org/officeDocument/2006/relationships/notesMaster" Target="/ppt/notesMasters/notesMaster1.xml" Id="R3e693346b25a45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9bed4a71634ff1" /><Relationship Type="http://schemas.openxmlformats.org/officeDocument/2006/relationships/notesMaster" Target="/ppt/notesMasters/notesMaster1.xml" Id="R844b18478129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d993e80b82464f" /><Relationship Type="http://schemas.openxmlformats.org/officeDocument/2006/relationships/notesMaster" Target="/ppt/notesMasters/notesMaster1.xml" Id="Rb4806fef294c46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5f14e1d0904f0a" /><Relationship Type="http://schemas.openxmlformats.org/officeDocument/2006/relationships/notesMaster" Target="/ppt/notesMasters/notesMaster1.xml" Id="R1c1b991477db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1 / 0~24초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[0초] 학교 공지에서 필요한 내용을 찾다가, 첨부파일까지 하나씩 열어 본 적 있으신가요?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[6초] PNU Docs는 공식 행정문서를 검색하고, 그 문서를 근거로 답변하는 챗봇입니다.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[12초] 답변에 붙은 인용 번호를 누르면 근거 문장과 원문 위치를 함께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[18초] 지금부터 저희가 만든 서비스의 사용 흐름과 주요 기능을 소개하겠습니다.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1장, 3장. 39조 무엇이든물어보새.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2 / 24~48초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[24초] 등록금이나 기숙사처럼 필요한 정보는 여러 게시판과 첨부파일에 나뉘어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[30초] 검색 결과를 찾더라도, 본인에게 적용되는 학년도와 대상 조건을 다시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[36초] 문서 안의 표나 예외 조항을 놓치면 같은 안내도 다르게 이해할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[42초] 그래서 질문에 대한 답변과 함께 확인할 근거를 보여주는 흐름을 만들었습니다.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1장 문제 정의 및 3장 시스템 설계.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3 / 48~72초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[48초] 사용자는 궁금한 내용을 일상적인 문장으로 입력합니다.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[54초] 이 화면은 대학생활원 공지에 관한 질문에 실제로 생성했던 답변을 다시 보여준 예입니다.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[60초] 답변에는 문장별로 인용 번호가 붙고, 참고한 문서도 함께 확인할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[66초] 대화 목록과 이어지는 입력창을 배치해 질문을 계속할 수 있도록 구성했습니다.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그림 4. 저장된 2026-09-09 실제 생성 응답을 현재 UI에서 재현한 화면. 정확도나 속도의 대표 표본이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4 / 72~96초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[72초] 서비스의 시작은 답변 생성에 사용할 공식 문서를 모으고 정리하는 과정입니다.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[78초] 보고서 기준 부산대학교 문서 이천이백사십칠 건을 파싱했습니다.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[84초] 검색 인덱스에는 사만 사천오백이십 개의 청크, 즉 검색용 문서 조각을 담았습니다.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[90초] 이 수치는 구축한 자료의 규모이며, 답변 정확도를 의미하는 수치는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3.7절 운영 코퍼스 집계. 2,247개 파싱 문서, 44,520개 검색 청크. 보고서 집계 기준, 실시간 수집량이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5 / 96~120초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[96초] 문서를 나눌 때는 내용과 함께 페이지와 섹션 같은 위치 정보도 보관합니다.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[102초] 표에서는 행의 값과 머리글이 연결돼야 금액이나 대상 조건을 해석할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[108초] 검색은 이런 문서 조각에서 질문과 관련된 근거를 찾는 역할을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[114초] 보관한 위치 정보는 나중에 사용자가 원문의 어느 부분인지 확인하는 데 쓰입니다.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3장 Block 및 청크 계약. 그림 2의 등록금 표 원문, Block, 청크 예시. 모든 형식의 구조 복원 성공을 보장하는 설명이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6 / 120~144초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[120초] 답변을 읽은 다음에는 인용에 연결된 근거 문서를 확인할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[126초] 문서 보기에서는 답변에 사용한 발췌문과 원문을 여는 링크를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[132초] 위치 보기에서는 페이지나 섹션을 확인해 필요한 부분을 다시 찾아볼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[138초] 화면의 검증 표시는 내부 검사 결과이며, 답변이 항상 정확하다는 보증은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그림 6. 저장된 실제 응답을 현재 UI에서 재현. 문장 검증 표시는 규칙 기반 내부 검사로 외부 정답 판정을 뜻하지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7 / 144~168초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[144초] 먼저 질문과 관련된 문서 조각을 검색해 답변에 사용할 문맥을 구성합니다.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[150초] 검색한 문맥을 언어 모델에 전달하고, 문서에 근거한 답변을 생성하도록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[156초] 생성한 문장과 인용 정보를 검사한 뒤 사용자에게 답변과 출처를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[162초] 이처럼 검색과 생성을 연결하는 방식을 검색 증강 생성, RAG라고 부릅니다.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3장 및 그림 1. 현재 기본 검색은 SQLite FTS5 BM25. Gemini API를 이용하는 생성 경로. 새로운 기반 모델을 학습한 프로젝트가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8 / 168~192초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[168초] 외부 문서에는 답변 내용과 무관한 지시문이 섞여 들어올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[174초] 입력 단계에서는 의심되는 문맥을 정제하거나 제외하는 규칙을 적용했습니다.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[180초] 출력 단계에서는 인용 번호와 원문 포함 여부, 문장과 근거의 연결을 검사합니다.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[186초] 이 장치들은 일부 오류를 다루기 위한 기능이며, 모든 공격이나 오답을 막지는 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3장 Context Gate / Output Gate, 4장 보안 평가. 인용 무결성과 의미적 정확성은 구분. 소규모 공격 평가로 일반적 방어를 보장하지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9 / 192~216초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[192초] 실험에서는 검색 성능과 최종 답변의 완전한 정답 여부를 구분했습니다.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[198초] 최종 핵심 평가의 완전 정답 비율은 기본안 이십삼 점 오, 개선안 이십이 점 이 퍼센트였습니다.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[204초] 이번 평가에서는 최종 답변 품질의 개선 효과를 확인하지 못했습니다.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[210초] 질문에 맞는 근거 선택과 문장 검증을 보완하고, 자동 문서 갱신도 추가할 필요가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4장 최종 holdout. 핵심 질문 27개 × 3회 = 조건별 예정 81응답. GFC: C0 19/81=23.5%, C1 18/81=22.2%, p=0.892. C1 누락 1건도 예정 분모에 포함. 9개 challenge는 별도. GFC는 보고서 기준 완전 정답 지표이며 모든 문장 진위 비율이 아님. 5장 향후 과제.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장면 10 / 216~240초 / 24초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[216초] 저희는 행정문서 수집부터 검색과 생성, 출처 확인 화면까지 이어지는 시제품을 만들었습니다.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[222초] 주요 특징은 사용자가 답변의 근거와 원문 위치를 직접 살펴볼 수 있다는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[228초] 현재는 원문 확인을 돕는 시제품이며, 중요한 행정 판단에는 공식 안내 확인이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[234초] 삼십구 조 무엇이든물어보새의 PNU Docs를 소개해 드렸습니다.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주의사항: 최종보고서 5장 결론. 팀원 이현우, 황지완, 정지인. 공식 대학 운영 서비스나 정확도 보장 서비스로 소개하지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영상은 하단 자막을 6초마다 전환합니다. 이 편집용 슬라이드에는 장면의 첫 자막을 표시했습니다. 전체 자막은 동봉 SRT 및 대본을 참고하세요.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519997728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279aeeb474b35" /><Relationship Type="http://schemas.openxmlformats.org/officeDocument/2006/relationships/slideLayout" Target="/ppt/slideLayouts/slideLayout1.xml" Id="R235174d8104048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174d8104048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90fa3d0a54059" /><Relationship Type="http://schemas.openxmlformats.org/officeDocument/2006/relationships/notesSlide" Target="/ppt/notesSlides/notesSlide1.xml" Id="Rb7b7302f3a194f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a728fc9fa4206" /><Relationship Type="http://schemas.openxmlformats.org/officeDocument/2006/relationships/notesSlide" Target="/ppt/notesSlides/notesSlide2.xml" Id="R95f2269203af47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d9c78a9a04934" /><Relationship Type="http://schemas.openxmlformats.org/officeDocument/2006/relationships/image" Target="/ppt/media/image.png" Id="Rddb384c75133400a" /><Relationship Type="http://schemas.openxmlformats.org/officeDocument/2006/relationships/notesSlide" Target="/ppt/notesSlides/notesSlide3.xml" Id="R3d400cdd5bee47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7369d322d4799" /><Relationship Type="http://schemas.openxmlformats.org/officeDocument/2006/relationships/notesSlide" Target="/ppt/notesSlides/notesSlide4.xml" Id="Rc438532c8f61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133ba0a49481d" /><Relationship Type="http://schemas.openxmlformats.org/officeDocument/2006/relationships/image" Target="/ppt/media/image2.png" Id="R5489acf361944ac7" /><Relationship Type="http://schemas.openxmlformats.org/officeDocument/2006/relationships/notesSlide" Target="/ppt/notesSlides/notesSlide5.xml" Id="R1c9cba818e6c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4b58fa5da4823" /><Relationship Type="http://schemas.openxmlformats.org/officeDocument/2006/relationships/image" Target="/ppt/media/image3.png" Id="R5af9107615d644aa" /><Relationship Type="http://schemas.openxmlformats.org/officeDocument/2006/relationships/notesSlide" Target="/ppt/notesSlides/notesSlide6.xml" Id="R2e446626847f43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71112efae4ac3" /><Relationship Type="http://schemas.openxmlformats.org/officeDocument/2006/relationships/notesSlide" Target="/ppt/notesSlides/notesSlide7.xml" Id="R8d129754d8c243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2912d21a04a21" /><Relationship Type="http://schemas.openxmlformats.org/officeDocument/2006/relationships/notesSlide" Target="/ppt/notesSlides/notesSlide8.xml" Id="R3245f4f086c24a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d325bfe4e452b" /><Relationship Type="http://schemas.openxmlformats.org/officeDocument/2006/relationships/notesSlide" Target="/ppt/notesSlides/notesSlide9.xml" Id="R8d8cfe863c8541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54e38e6864b1d" /><Relationship Type="http://schemas.openxmlformats.org/officeDocument/2006/relationships/notesSlide" Target="/ppt/notesSlides/notesSlide10.xml" Id="R8f852601ab0a48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A1133-8E17-43ED-873F-5B050CDB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9CEFF"/>
                </a:solidFill>
                <a:latin typeface="Apple SD Gothic Neo"/>
                <a:ea typeface="Apple SD Gothic Neo"/>
                <a:cs typeface="Apple SD Gothic Neo"/>
              </a:rPr>
              <a:t>행정문서 챗봇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6C401-5826-4944-AA6C-8827383E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PNU Docs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B949C-6635-4EF3-9E26-566CB10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6DE2C-3E15-43BC-8BC3-C785DF6C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ABBB0-5440-4CE7-A2FB-569DC39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382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행정문서를</a:t>
            </a:r>
          </a:p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답변과 출처로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EAA0-FD88-4331-9E55-AAD3B456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ED8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CED8EF"/>
                </a:solidFill>
                <a:latin typeface="Apple SD Gothic Neo"/>
                <a:ea typeface="Apple SD Gothic Neo"/>
                <a:cs typeface="Apple SD Gothic Neo"/>
              </a:rPr>
              <a:t>부산대학교 및 공공기관 행정문서 챗봇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7A01D-2541-45C5-8381-005F304D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ED8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CED8EF"/>
                </a:solidFill>
                <a:latin typeface="Apple SD Gothic Neo"/>
                <a:ea typeface="Apple SD Gothic Neo"/>
                <a:cs typeface="Apple SD Gothic Neo"/>
              </a:rPr>
              <a:t>39조  무엇이든물어보새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8A599-3D66-4B27-B750-4F7C163D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B537A-032F-4D66-AA59-566690E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학교 공지에서 필요한 내용을 찾다가,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첨부파일까지 하나씩 열어 본 적 있으신가요?</a:t>
            </a:r>
          </a:p>
        </p:txBody>
      </p:sp>
    </p:spTree>
    <p:extLst>
      <p:ext uri="{BB962C8B-B14F-4D97-AF65-F5344CB8AC3E}">
        <p14:creationId xmlns:p14="http://schemas.microsoft.com/office/powerpoint/2010/main" val="1999712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802AF-C1AF-41F7-919C-3FF8B1A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만들게 된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2788-0DE2-48CA-A3C0-A9D71D2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행정정보를 찾을 때의 불편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45CB-2033-42D2-B7C9-78D02CA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CEF79-2F09-4485-9FB5-CB18A66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F40EF-52FD-4084-BAD6-09F0C41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문서는 어디에 있을까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C7B54-274B-4DD7-91F7-F730A027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게시판 공지와 첨부파일을 오가며 찾는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8CE1-7B0D-47B9-9F05-E93F3C22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F4993-6883-4312-BF91-07F6FBC6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내게 적용되는 조건은 무엇일까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0AA5-21A0-4FD0-8B24-C216C1C0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학년도, 대상, 예외 조항까지 확인해야 하는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F43B2-DBDC-4C8E-A4ED-DB0B7645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32CE8-07A2-49D1-BFF8-4002BC8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등록금이나 기숙사처럼 필요한 정보는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여러 게시판과 첨부파일에 나뉘어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0201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6F9E9-6C2F-44D2-85CC-1A6700E9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사용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6487-1B7B-44EC-9EBF-D4EA99D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질문과 답변을 한 화면에서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D03E1-ACED-4DDF-A9FD-3F8C0B6B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EBD2A-98EF-456A-9BF5-03D372E0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5C9C7-11C5-471E-83D2-B542594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자연어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70171-77FE-425F-A45D-3999608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문장별 인용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2BA7E-3510-4582-BFC7-89FBE3D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대화 목록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384c75133400a"/>
          <a:stretch xmlns:a="http://schemas.openxmlformats.org/drawingml/2006/main"/>
        </p:blipFill>
        <p:spPr>
          <a:xfrm xmlns:a="http://schemas.openxmlformats.org/drawingml/2006/main">
            <a:off x="4593960" y="1809750"/>
            <a:ext cx="5966354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71699-0289-405C-964A-B8E678D6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62625"/>
            <a:ext cx="801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저장된 실제 실행 화면 · 생성 응답 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49EED-21C3-4CD6-8895-1561232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72E0D-48EE-42E6-B030-26A06EA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사용자는 궁금한 내용을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일상적인 문장으로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28921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5C4A5-4022-489E-AB07-8B2434A1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문서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DE504-4FFE-46A6-87A1-9D36188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공식 문서를 검색 가능한 자료로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5B174-5A4E-4C44-A835-594BA5B9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4836E-BE98-4AD8-9DDC-6C78DC0F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9554A-2258-43A6-9AF3-BC827B15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9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2,247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D037A-32C4-45F4-AFFA-EE33D47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파싱한 부산대학교 문서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E5133-A3CB-4426-8677-947DD4D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81200"/>
            <a:ext cx="52482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9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44,520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B07EE-9C2F-479D-A032-1858C124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248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검색 인덱스의 청크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04A1D-E849-48C1-8016-765117E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3E0C4-C4F1-4746-9DED-D0E607C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PDF / HWP·HWPX / HTML / Office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F4C23-625E-4BF6-B70E-DCF4024D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보고서의 운영 코퍼스 집계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22169-7F31-46C1-B323-E73F0AC4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DEE2F-A8AE-4383-9858-45D179DE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서비스의 시작은 답변 생성에 사용할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문서를 모으고 정리하는 과정입니다.</a:t>
            </a:r>
          </a:p>
        </p:txBody>
      </p:sp>
    </p:spTree>
    <p:extLst>
      <p:ext uri="{BB962C8B-B14F-4D97-AF65-F5344CB8AC3E}">
        <p14:creationId xmlns:p14="http://schemas.microsoft.com/office/powerpoint/2010/main" val="1057959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C7863-80DB-4F31-A855-B3C2233B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구조를 보존하는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5B7B4-C333-4E0C-AFB0-7CCD5CE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문서의 구조와 위치를 함께 보관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E04F0-6D49-4CA6-9128-9CEFA75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09C5E-5AC6-4EFD-9E01-9E7F9C05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9acf361944ac7"/>
          <a:srcRect xmlns:a="http://schemas.openxmlformats.org/drawingml/2006/main" l="0" t="0" r="0" b="7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14525"/>
            <a:ext cx="10972800" cy="2714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CD764-5B5D-4EB5-837A-428C287E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표의 머리글과 행의 값을 함께 검색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4E23D-9BF6-4AC7-B668-F461BA7B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페이지와 섹션을 보관해 원문 위치와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B6796-D90F-4D8C-9C75-918F08D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89316-C707-44F9-8202-2FEC489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문서를 나눌 때는 내용과 함께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페이지와 섹션 같은 위치 정보도 보관합니다.</a:t>
            </a:r>
          </a:p>
        </p:txBody>
      </p:sp>
    </p:spTree>
    <p:extLst>
      <p:ext uri="{BB962C8B-B14F-4D97-AF65-F5344CB8AC3E}">
        <p14:creationId xmlns:p14="http://schemas.microsoft.com/office/powerpoint/2010/main" val="1533137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53403-107E-4E66-A3A2-DA939716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출처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0D3D3-4032-4AD2-84E1-7D8CA72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답변에서 근거 문서까지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2DC46-AB4D-4CAF-8003-4D14586A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2CF21-7F08-4766-845E-D292406E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9107615d644aa"/>
          <a:srcRect xmlns:a="http://schemas.openxmlformats.org/drawingml/2006/main" l="0" t="27900" r="0" b="19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10972800" cy="3752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67D96-D70F-4406-86EC-4DF713F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저장된 실제 실행 화면 · 내부 검증 표시는 정답 보증이 아님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C9D8C-A186-430A-AD13-E68C32F4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A67C8-0665-4138-AF3D-7F11B06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답변을 읽은 다음에는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인용에 연결된 근거 문서를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97273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16354-C4E1-4AF1-BB6F-67E3B66A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서비스 내부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3F779-9219-483C-B1B1-860A3DB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검색한 근거로 답변을 만드는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20A88-CCD4-4086-ACEE-3B5FA71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C162-6920-4250-ACE0-D3372FB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FF659-CF3E-4EDD-9FA4-A543E40F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AE47D-12F2-468F-B830-317C9A71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문서에서 근거 검색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07C52-A9AF-4B59-B921-01B4CF57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990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질문에 맞는 문서 조각으로 문맥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6F4F1-DE21-48F7-88F2-D1FDF6C9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7ECE0-2619-4D63-A87E-5B318892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언어 모델로 답변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02BA6-C52B-4EF5-A06B-845D4AA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990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검색한 근거를 함께 전달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64A9F-8764-4F6F-81DB-25F563FB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648D8-9E25-4FEB-A696-58ECFB91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검사 후 답변과 출처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DBF91-B213-4467-AD00-5DAA1DB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990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문장별 인용과 원문 확인 경로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39B1E-E70D-4A8C-84D8-7DCE5839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E0773-A734-4B9D-A417-BEDF2E47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먼저 질문과 관련된 문서 조각을 검색해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답변에 사용할 문맥을 구성합니다.</a:t>
            </a:r>
          </a:p>
        </p:txBody>
      </p:sp>
    </p:spTree>
    <p:extLst>
      <p:ext uri="{BB962C8B-B14F-4D97-AF65-F5344CB8AC3E}">
        <p14:creationId xmlns:p14="http://schemas.microsoft.com/office/powerpoint/2010/main" val="891103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F32DB-BD5B-46AB-B70E-A3CDAD4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잘못된 응답에 대한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EDE74-96C1-41A0-992B-00D1E9E1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입력 문맥과 출력 인용을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681F0-8AF9-4D91-8892-ED35625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C3822-4A57-46A0-A08E-C5B23EA8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6739A-5611-48FF-906E-DB31C98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09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입력 문맥 검사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468D1-F9CD-40D3-9455-74B39CC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의심되는 지시문을</a:t>
            </a:r>
          </a:p>
          <a:p xmlns:a="http://schemas.openxmlformats.org/drawingml/2006/main">
            <a:pPr algn="l">
              <a:def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정제하거나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707B6-533A-4FF1-BA5B-1BEE0BB1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5248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출력 인용 검사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DC13A-BBE4-4FB4-8242-EEDC305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248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인용 번호와 원문,</a:t>
            </a:r>
          </a:p>
          <a:p xmlns:a="http://schemas.openxmlformats.org/drawingml/2006/main">
            <a:pPr algn="l">
              <a:def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문장별 근거 연결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91C09-54C2-4222-ACBF-E18689EA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DC230-28EE-4250-933C-0AA8E6E0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일부 오류와 공격에 대응하는 규칙 기반 장치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96032-5195-4D60-AAC0-8A514E2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BC1E8-8683-462C-9547-F029106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외부 문서에는 답변 내용과 무관한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지시문이 섞여 들어올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64663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9F4C2-F821-465C-A770-990BE08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실험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E9AAC-F2A0-4515-A54D-82F8C718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최종 평가에서 확인한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80523-40D8-4DF5-9FBF-054473C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AB725-BAC5-4217-8E64-44A829D3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BE9A0-8368-4C79-97E0-2F8F2787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7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7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23.5%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37EE0-71AB-4B23-A165-19FD12B7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기본안 C0 · 19 / 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EA441-A885-4563-8DD1-11F73E6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81200"/>
            <a:ext cx="52482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7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7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22.2%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01B05-E4D2-408B-B2FD-CE2210D4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5248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개선안 C1 · 18 / 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DE8FB-213A-4E2F-A8B2-1E217F64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최종 핵심 평가의 완전 정답 비율(GFC)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837A8-A99E-48E3-BFB2-F440AA59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품질 개선을 확인하지 못했으며, 근거 선택과 검증의 보완이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B914B-4AF6-4CDC-BECF-94B6972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27개 질문 × 3회 · 조건별 예정 응답 81개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E0ACC-42F2-48A3-AE4F-D882C5C5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17F98-ECAC-4F06-9DF4-74F4024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실험에서는 검색 성능과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답변의 완전한 정답 여부를 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40512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96919-0D9E-4721-AE3E-7465D5A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프로젝트 소개를 마치며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660C4-D104-447F-9CB5-611DFCA4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PNU Docs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4BCD2-431D-4DE8-AE9E-FD7ABC3D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3B6AF-2C19-43E6-A597-9B4039D0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60AED-58D6-4F57-BFC7-C8E62E32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7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답변과 함께</a:t>
            </a:r>
          </a:p>
          <a:p xmlns:a="http://schemas.openxmlformats.org/drawingml/2006/main">
            <a:pPr algn="l">
              <a:defRPr sz="47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725" b="1">
                <a:solidFill>
                  <a:srgbClr val="162B49"/>
                </a:solidFill>
                <a:latin typeface="Apple SD Gothic Neo"/>
                <a:ea typeface="Apple SD Gothic Neo"/>
                <a:cs typeface="Apple SD Gothic Neo"/>
              </a:rPr>
              <a:t>근거를 확인하는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174C6-EDFF-43FB-9717-2C09576D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원문 확인을 돕는 행정문서 챗봇 시제품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FB44-B4F2-4231-9DAD-3C06B339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15ED2"/>
                </a:solidFill>
                <a:latin typeface="Apple SD Gothic Neo"/>
                <a:ea typeface="Apple SD Gothic Neo"/>
                <a:cs typeface="Apple SD Gothic Neo"/>
              </a:rPr>
              <a:t>39조 무엇이든물어보새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7EFF6-7CC0-4486-8C68-D40AA18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36681"/>
                </a:solidFill>
                <a:latin typeface="Apple SD Gothic Neo"/>
                <a:ea typeface="Apple SD Gothic Neo"/>
                <a:cs typeface="Apple SD Gothic Neo"/>
              </a:rPr>
              <a:t>이현우   황지완   정지인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71DEF-6609-4844-9424-FF27055A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4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4BF13-EA72-41B8-8FEA-E9C7F4DB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저희는 행정문서 수집부터 검색과 생성,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 확인 화면까지 이어지는 시제품을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501560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2026-09-22T10:22:10.9300000Z</dcterms:created>
  <dcterms:modified xsi:type="dcterms:W3CDTF">2026-09-22T10:22:10.9300000Z</dcterms:modified>
</coreProperties>
</file>